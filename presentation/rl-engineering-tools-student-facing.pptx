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opening slide tells students the deck is a learning map. It is not a list of every library and it is not a benchmark. The question is: what problem appears at each stage, and what tool represents a solution?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leave this slide with a mental model: RL tools exist because the loop has many moving parts. The next slides map representative libraries to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on-policy/off-policy distinction only as a systems distinction: fresh rollouts versus replay buffers. This is enough background for tool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confuse environment APIs with learning algorithms. The takeaway is that Gymnasium solves interface standardization, not optimization.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one as universally better. CleanRL teaches the implementation; SB3 helps run a strong baseline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understand that scaling is not free. RLlib is not just another PPO file; it is an execution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why LLM RL frameworks look different from classical RL libraries. They coordinate inference and training, not just environment stepping.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gives students enough vocabulary for TRL and veRL. Emphasize the key systems distinction: offline methods train on fixed data; online RL must generate new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TRL as a practical bridge for students with LLM background. It makes post-training accessible without first learning distributed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learn that LLM RL systems are not just algorithm wrappers. They manage many models and move weights between training and inference layouts.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isolates the two types of systems behind LLM RL. Rollout engines optimize generation; training backends optimize gradients and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conceptual frontier slide. Students do not need implementation details. The main trade-off is higher utilization versus less on-policy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students actionable choices. It also prevents the common mistake of starting with the heaviest system before the problem requires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three central ideas. This slide should be useful even if students remember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A3"/>
          </a:solidFill>
          <a:ln w="12700">
            <a:solidFill>
              <a:srgbClr val="0EA5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Engineering Tools · Student Deck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680960" y="654710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Crescent-Intellegence-Lab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6"/>
          </a:solidFill>
          <a:ln w="12700">
            <a:solidFill>
              <a:srgbClr val="0818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5A3"/>
          </a:solidFill>
          <a:ln w="12700">
            <a:solidFill>
              <a:srgbClr val="0EA5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RL Engineering Tools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04672" y="170078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7E8E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Classical RL to LLM Agents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8D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student-facing map of what each tool layer solves, when to use it, and how the bottleneck changes.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730752"/>
            <a:ext cx="1874520" cy="1005840"/>
          </a:xfrm>
          <a:prstGeom prst="roundRect">
            <a:avLst>
              <a:gd name="adj" fmla="val 4545"/>
            </a:avLst>
          </a:prstGeom>
          <a:solidFill>
            <a:srgbClr val="102A45"/>
          </a:solidFill>
          <a:ln w="15240">
            <a:solidFill>
              <a:srgbClr val="0EA5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913632"/>
            <a:ext cx="1691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E8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4242816"/>
            <a:ext cx="16916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Gymnasium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06624" y="4151376"/>
            <a:ext cx="3108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CB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63240" y="3730752"/>
            <a:ext cx="1874520" cy="1005840"/>
          </a:xfrm>
          <a:prstGeom prst="roundRect">
            <a:avLst>
              <a:gd name="adj" fmla="val 4545"/>
            </a:avLst>
          </a:prstGeom>
          <a:solidFill>
            <a:srgbClr val="102A45"/>
          </a:solidFill>
          <a:ln w="15240">
            <a:solidFill>
              <a:srgbClr val="0EA5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3913632"/>
            <a:ext cx="1691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E8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54680" y="4242816"/>
            <a:ext cx="16916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CleanRL / SB3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46904" y="4151376"/>
            <a:ext cx="3108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CB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03520" y="3730752"/>
            <a:ext cx="1874520" cy="1005840"/>
          </a:xfrm>
          <a:prstGeom prst="roundRect">
            <a:avLst>
              <a:gd name="adj" fmla="val 4545"/>
            </a:avLst>
          </a:prstGeom>
          <a:solidFill>
            <a:srgbClr val="102A45"/>
          </a:solidFill>
          <a:ln w="15240">
            <a:solidFill>
              <a:srgbClr val="0EA5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3913632"/>
            <a:ext cx="1691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E8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94960" y="4242816"/>
            <a:ext cx="16916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RLlib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87184" y="4151376"/>
            <a:ext cx="3108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CB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543800" y="3730752"/>
            <a:ext cx="1874520" cy="1005840"/>
          </a:xfrm>
          <a:prstGeom prst="roundRect">
            <a:avLst>
              <a:gd name="adj" fmla="val 4545"/>
            </a:avLst>
          </a:prstGeom>
          <a:solidFill>
            <a:srgbClr val="16324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3913632"/>
            <a:ext cx="1691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E8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Training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35240" y="4242816"/>
            <a:ext cx="16916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TRL / veRL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27464" y="4151376"/>
            <a:ext cx="3108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CB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784080" y="3730752"/>
            <a:ext cx="1874520" cy="1005840"/>
          </a:xfrm>
          <a:prstGeom prst="roundRect">
            <a:avLst>
              <a:gd name="adj" fmla="val 4545"/>
            </a:avLst>
          </a:prstGeom>
          <a:solidFill>
            <a:srgbClr val="16324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0" y="3913632"/>
            <a:ext cx="1691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E8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75520" y="4242816"/>
            <a:ext cx="16916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5998464"/>
            <a:ext cx="64922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Shuo Yan · Crescent-Intellegence-Lab ·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 RL Tools Exist?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reinforcement learning project is not just an algorithm; it is a data-producing training loop.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874520" cy="1207008"/>
          </a:xfrm>
          <a:prstGeom prst="roundRect">
            <a:avLst>
              <a:gd name="adj" fmla="val 3788"/>
            </a:avLst>
          </a:prstGeom>
          <a:solidFill>
            <a:srgbClr val="E8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112264"/>
            <a:ext cx="16550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3816" y="2441448"/>
            <a:ext cx="161848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 observations and rewards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60320" y="2395728"/>
            <a:ext cx="228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98648" y="1965960"/>
            <a:ext cx="1874520" cy="1207008"/>
          </a:xfrm>
          <a:prstGeom prst="roundRect">
            <a:avLst>
              <a:gd name="adj" fmla="val 3788"/>
            </a:avLst>
          </a:prstGeom>
          <a:solidFill>
            <a:srgbClr val="DFF7F4"/>
          </a:solidFill>
          <a:ln w="12700">
            <a:solidFill>
              <a:srgbClr val="0EA5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08376" y="2112264"/>
            <a:ext cx="16550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26664" y="2441448"/>
            <a:ext cx="161848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chooses actions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73168" y="2395728"/>
            <a:ext cx="228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11496" y="1965960"/>
            <a:ext cx="1874520" cy="1207008"/>
          </a:xfrm>
          <a:prstGeom prst="roundRect">
            <a:avLst>
              <a:gd name="adj" fmla="val 3788"/>
            </a:avLst>
          </a:prstGeom>
          <a:solidFill>
            <a:srgbClr val="FFF4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112264"/>
            <a:ext cx="16550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39512" y="2441448"/>
            <a:ext cx="161848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trajectories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86016" y="2395728"/>
            <a:ext cx="228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24344" y="1965960"/>
            <a:ext cx="1874520" cy="1207008"/>
          </a:xfrm>
          <a:prstGeom prst="roundRect">
            <a:avLst>
              <a:gd name="adj" fmla="val 3788"/>
            </a:avLst>
          </a:prstGeom>
          <a:solidFill>
            <a:srgbClr val="EEEAFE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4072" y="2112264"/>
            <a:ext cx="16550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52360" y="2441448"/>
            <a:ext cx="161848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model parameters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98864" y="2395728"/>
            <a:ext cx="228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37192" y="1965960"/>
            <a:ext cx="1874520" cy="1207008"/>
          </a:xfrm>
          <a:prstGeom prst="roundRect">
            <a:avLst>
              <a:gd name="adj" fmla="val 3788"/>
            </a:avLst>
          </a:prstGeom>
          <a:solidFill>
            <a:srgbClr val="E5F8F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2112264"/>
            <a:ext cx="16550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65208" y="2441448"/>
            <a:ext cx="161848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progress and failures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3977640"/>
            <a:ext cx="103784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224528"/>
            <a:ext cx="1280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514600" y="4169664"/>
            <a:ext cx="8138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tasks get larger, different parts of this loop become bottlenecks. RL libraries mostly differ in which bottleneck they make easier to handle.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1208" y="6291072"/>
            <a:ext cx="11109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A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framing: start from the loop, then map tools to the part of the loop they standardize or scale.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Classical RL Stack: The Baseline Mental Model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classic RL tools organize environment interaction, trajectory storage, and optimization.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46504"/>
            <a:ext cx="1700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536" y="2075688"/>
            <a:ext cx="166420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/ step / reward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54680" y="16002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DFF7F4"/>
          </a:solidFill>
          <a:ln w="12700">
            <a:solidFill>
              <a:srgbClr val="0EA5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64408" y="1746504"/>
            <a:ext cx="1700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82696" y="2075688"/>
            <a:ext cx="166420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distribution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77840" y="16002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4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746504"/>
            <a:ext cx="1700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05856" y="2075688"/>
            <a:ext cx="166420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rollout or replay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0" y="160020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EEEAFE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0728" y="1746504"/>
            <a:ext cx="1700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9016" y="2075688"/>
            <a:ext cx="166420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+ optimizer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87000" y="1600200"/>
            <a:ext cx="1417320" cy="914400"/>
          </a:xfrm>
          <a:prstGeom prst="roundRect">
            <a:avLst>
              <a:gd name="adj" fmla="val 5000"/>
            </a:avLst>
          </a:prstGeom>
          <a:solidFill>
            <a:srgbClr val="E5F8F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96728" y="1746504"/>
            <a:ext cx="11978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15016" y="2075688"/>
            <a:ext cx="116128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curves + checkpoints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3291840"/>
            <a:ext cx="3291840" cy="1938528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584448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On-policy examples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4023360"/>
            <a:ext cx="2377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PPO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A2C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new rollouts before updates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34840" y="3291840"/>
            <a:ext cx="3291840" cy="1938528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584448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Off-policy examples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54880" y="4023360"/>
            <a:ext cx="2377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DQN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 / TD3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data from replay buffer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92440" y="3291840"/>
            <a:ext cx="3291840" cy="1938528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3584448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questions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412480" y="4023360"/>
            <a:ext cx="2377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fast can we sample?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data stored?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reproducible is training?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Gymnasium: Standardizing the Environment API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algorithms can be reused, they need a common way to talk to environments.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983480" cy="4434840"/>
          </a:xfrm>
          <a:prstGeom prst="roundRect">
            <a:avLst>
              <a:gd name="adj" fmla="val 103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856232"/>
            <a:ext cx="4251960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AF2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observation, info = env.reset()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EAF2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observation, reward,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EAF2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terminated, truncated, info =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EAF2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env.step(action)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4480560"/>
            <a:ext cx="4480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8CA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interaction pattern works across classic control, Atari-style tasks, MuJoCo-style control, and custom environments.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2606040" cy="44348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755648"/>
            <a:ext cx="2057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Gymnasium gives you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09360" y="2423160"/>
            <a:ext cx="182880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reset() / step()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and observation spaces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wrappers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vectorized envs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environment pattern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915400" y="1417320"/>
            <a:ext cx="2606040" cy="44348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89720" y="1755648"/>
            <a:ext cx="2057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does not 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235440" y="2423160"/>
            <a:ext cx="182880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PPO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replay buffers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advantages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workers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LLM rollouts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21208" y="6291072"/>
            <a:ext cx="11109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A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Gymnasium API docs define Env.reset(), Env.step(), spaces, wrappers, and vectorized environments.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CleanRL vs. Stable-Baselines3: Two Good Engineering Choices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 implementation style depends on whether you need to understand internals or run a reliable baseline.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12064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B8E4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19072"/>
            <a:ext cx="1115568" cy="292608"/>
          </a:xfrm>
          <a:prstGeom prst="roundRect">
            <a:avLst>
              <a:gd name="adj" fmla="val 25000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05840" y="2157984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CleanRL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05840" y="2596896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complete algorithm in one file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3063240"/>
            <a:ext cx="4434840" cy="914400"/>
          </a:xfrm>
          <a:prstGeom prst="roundRect">
            <a:avLst>
              <a:gd name="adj" fmla="val 5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3346704"/>
            <a:ext cx="40050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2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 loop → rollout → GAE → PPO loss → optimizer step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4224528"/>
            <a:ext cx="40233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learning and modifying algorithms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inspect every detail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reusable for large codebases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512064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C7D8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1719072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783080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BASELINE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29400" y="2157984"/>
            <a:ext cx="29260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Stable-Baselines3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629400" y="2596896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tested high-level PyTorch library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29400" y="3063240"/>
            <a:ext cx="4434840" cy="914400"/>
          </a:xfrm>
          <a:prstGeom prst="roundRect">
            <a:avLst>
              <a:gd name="adj" fmla="val 5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3246120"/>
            <a:ext cx="40050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F2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= PPO("MlpPolicy", env)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EAF2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model.learn(total_timesteps=100_000)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20840" y="4224528"/>
            <a:ext cx="40233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quick, trusted baselines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API and evaluation utilities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Harder to inspect the full path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1208" y="6291072"/>
            <a:ext cx="11109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A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CleanRL documentation emphasizes single-file implementations; Stable-Baselines3 documents a unified tested PyTorch API.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RLlib: Scaling Classical RL Beyond One Process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many environments or learners are needed, scheduling becomes part of the RL system.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011680" cy="1005840"/>
          </a:xfrm>
          <a:prstGeom prst="roundRect">
            <a:avLst>
              <a:gd name="adj" fmla="val 4545"/>
            </a:avLst>
          </a:prstGeom>
          <a:solidFill>
            <a:srgbClr val="E8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66544"/>
            <a:ext cx="17922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 runners × 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0976" y="2395728"/>
            <a:ext cx="1755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sampling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971800" y="2304288"/>
            <a:ext cx="29260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1828800" cy="1005840"/>
          </a:xfrm>
          <a:prstGeom prst="roundRect">
            <a:avLst>
              <a:gd name="adj" fmla="val 4545"/>
            </a:avLst>
          </a:prstGeom>
          <a:solidFill>
            <a:srgbClr val="FFF4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2066544"/>
            <a:ext cx="16093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stream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11296" y="2395728"/>
            <a:ext cx="15727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trajectories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13248" y="2304288"/>
            <a:ext cx="29260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806440" y="1920240"/>
            <a:ext cx="1920240" cy="1005840"/>
          </a:xfrm>
          <a:prstGeom prst="roundRect">
            <a:avLst>
              <a:gd name="adj" fmla="val 4545"/>
            </a:avLst>
          </a:prstGeom>
          <a:solidFill>
            <a:srgbClr val="EEEAFE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16168" y="2066544"/>
            <a:ext cx="1700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Learners × 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34456" y="2395728"/>
            <a:ext cx="16642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multi-GPU updates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09560" y="2304288"/>
            <a:ext cx="29260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8275320" y="1920240"/>
            <a:ext cx="1920240" cy="1005840"/>
          </a:xfrm>
          <a:prstGeom prst="roundRect">
            <a:avLst>
              <a:gd name="adj" fmla="val 4545"/>
            </a:avLst>
          </a:prstGeom>
          <a:solidFill>
            <a:srgbClr val="E5F8F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2066544"/>
            <a:ext cx="1700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modules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03336" y="2395728"/>
            <a:ext cx="16642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parameters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3749040"/>
            <a:ext cx="480060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RLlib is useful when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34440" y="4407408"/>
            <a:ext cx="38404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dominates runtime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Multi-agent policies are needed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Ray-based cluster scheduling matters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3749040"/>
            <a:ext cx="4434840" cy="1600200"/>
          </a:xfrm>
          <a:prstGeom prst="roundRect">
            <a:avLst>
              <a:gd name="adj" fmla="val 2857"/>
            </a:avLst>
          </a:prstGeom>
          <a:solidFill>
            <a:srgbClr val="FFF4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of this power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84848" y="4407408"/>
            <a:ext cx="3566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configuration, deeper abstractions, and more distributed failure modes. Use it when scale is real.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1208" y="6291072"/>
            <a:ext cx="11109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A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Ray RLlib docs describe RLlib as scalable, production-level, fault-tolerant RL on Ray.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LLM RL Changes the Tooling Problem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LLMs, the action is a long sequence and rollout generation becomes expensive.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16636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7D8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9164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556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RL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1560" y="2212848"/>
            <a:ext cx="429768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Observation: small tensor or state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 low-dimensional choice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time: often milliseconds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Policy: modest neural network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Reward: usually from simulator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16636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F3D5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69164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FFF4D8"/>
          </a:solidFill>
          <a:ln w="12700">
            <a:solidFill>
              <a:srgbClr val="FFF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75564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RL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720840" y="2212848"/>
            <a:ext cx="429768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Observation: prompt + conversation history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 hundreds or thousands of tokens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Rollout: model generation + tools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Policy: billions of parameters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Reward: model, verifier, or environment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103120" y="5989320"/>
            <a:ext cx="7955280" cy="310896"/>
          </a:xfrm>
          <a:prstGeom prst="roundRect">
            <a:avLst>
              <a:gd name="adj" fmla="val 1470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6071616"/>
            <a:ext cx="74980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bottleneck: rollout generation + reward verification + weight synchronization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Post-Training Methods: A Minimal Map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every “alignment” method is online reinforcement learning.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600200" cy="91440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75104"/>
            <a:ext cx="13807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536" y="2304288"/>
            <a:ext cx="134416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from demonstrations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14600" y="2176272"/>
            <a:ext cx="29260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2880360" y="1828800"/>
            <a:ext cx="1783080" cy="914400"/>
          </a:xfrm>
          <a:prstGeom prst="roundRect">
            <a:avLst>
              <a:gd name="adj" fmla="val 5000"/>
            </a:avLst>
          </a:prstGeom>
          <a:solidFill>
            <a:srgbClr val="DFF7F4"/>
          </a:solidFill>
          <a:ln w="12700">
            <a:solidFill>
              <a:srgbClr val="0EA5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1975104"/>
            <a:ext cx="15636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08376" y="2304288"/>
            <a:ext cx="152704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 vs. rejected answers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0" y="2176272"/>
            <a:ext cx="29260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212080" y="1828800"/>
            <a:ext cx="2148840" cy="914400"/>
          </a:xfrm>
          <a:prstGeom prst="roundRect">
            <a:avLst>
              <a:gd name="adj" fmla="val 5000"/>
            </a:avLst>
          </a:prstGeom>
          <a:solidFill>
            <a:srgbClr val="FFF4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21808" y="1975104"/>
            <a:ext cx="19293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Preference Optimization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0096" y="2304288"/>
            <a:ext cx="189280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DPO / ORPO / KTO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43800" y="2176272"/>
            <a:ext cx="29260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7909560" y="1828800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EEEAFE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9288" y="1975104"/>
            <a:ext cx="16550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37576" y="2304288"/>
            <a:ext cx="161848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PPO / GRPO / RLOO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966960" y="2176272"/>
            <a:ext cx="29260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10287000" y="1828800"/>
            <a:ext cx="1234440" cy="914400"/>
          </a:xfrm>
          <a:prstGeom prst="roundRect">
            <a:avLst>
              <a:gd name="adj" fmla="val 5000"/>
            </a:avLst>
          </a:prstGeom>
          <a:solidFill>
            <a:srgbClr val="E5F8F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96728" y="1975104"/>
            <a:ext cx="10149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RLVR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15016" y="2304288"/>
            <a:ext cx="97840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verifiable reward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3749040"/>
            <a:ext cx="470916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methods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70432" y="4434840"/>
            <a:ext cx="4023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on fixed datasets. No new model-generated rollout is required during each update.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37960" y="3749040"/>
            <a:ext cx="470916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methods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93992" y="4434840"/>
            <a:ext cx="40233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policy generates answers; a reward model, verifier, or environment scores them; then the policy updates.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TRL: The Accessible Entry Point for LLM Post-Training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TRL is useful when the learning objective or reward function is the main thing you want to test.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383280" cy="42976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trainers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21031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SFTTrainer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DPOTrainer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KTO / ORPO workflows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07408" y="1417320"/>
            <a:ext cx="3383280" cy="42976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modeling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818888" y="2377440"/>
            <a:ext cx="21031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RewardTrainer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reward models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reward functions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38160" y="1417320"/>
            <a:ext cx="3383280" cy="42976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trainers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549640" y="2377440"/>
            <a:ext cx="21031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GRPOTrainer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PPOTrainer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RLOO / Online DPO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28800" y="5715000"/>
            <a:ext cx="8549640" cy="502920"/>
          </a:xfrm>
          <a:prstGeom prst="roundRect">
            <a:avLst>
              <a:gd name="adj" fmla="val 9091"/>
            </a:avLst>
          </a:prstGeom>
          <a:solidFill>
            <a:srgbClr val="DFF7F4"/>
          </a:solidFill>
          <a:ln w="12700">
            <a:solidFill>
              <a:srgbClr val="0EA5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5852160"/>
            <a:ext cx="8092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TRL first when you want a simple Hugging Face-native experiment before building a full distributed RL system.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21208" y="6291072"/>
            <a:ext cx="11109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A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Hugging Face TRL docs list trainers for SFT, DPO, reward modeling, GRPO, PPO, RLOO, and related methods.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veRL and OpenRLHF: When LLM RL Becomes a System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Large-scale LLM RL coordinates several models, rollout engines, and training backends.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325880" cy="822960"/>
          </a:xfrm>
          <a:prstGeom prst="roundRect">
            <a:avLst>
              <a:gd name="adj" fmla="val 5556"/>
            </a:avLst>
          </a:prstGeom>
          <a:solidFill>
            <a:srgbClr val="E8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837944"/>
            <a:ext cx="11064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05256" y="2167128"/>
            <a:ext cx="106984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policy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31720" y="1691640"/>
            <a:ext cx="1325880" cy="822960"/>
          </a:xfrm>
          <a:prstGeom prst="roundRect">
            <a:avLst>
              <a:gd name="adj" fmla="val 5556"/>
            </a:avLst>
          </a:prstGeom>
          <a:solidFill>
            <a:srgbClr val="EEEAFE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48" y="1837944"/>
            <a:ext cx="11064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59736" y="2167128"/>
            <a:ext cx="106984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 anchor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86200" y="1691640"/>
            <a:ext cx="1325880" cy="822960"/>
          </a:xfrm>
          <a:prstGeom prst="roundRect">
            <a:avLst>
              <a:gd name="adj" fmla="val 5556"/>
            </a:avLst>
          </a:prstGeom>
          <a:solidFill>
            <a:srgbClr val="FFF4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95928" y="1837944"/>
            <a:ext cx="11064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14216" y="2167128"/>
            <a:ext cx="106984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baseline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40680" y="1691640"/>
            <a:ext cx="1508760" cy="822960"/>
          </a:xfrm>
          <a:prstGeom prst="roundRect">
            <a:avLst>
              <a:gd name="adj" fmla="val 5556"/>
            </a:avLst>
          </a:prstGeom>
          <a:solidFill>
            <a:srgbClr val="E5F8F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0408" y="1837944"/>
            <a:ext cx="128930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/ Verifier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68696" y="2167128"/>
            <a:ext cx="12527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answers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69480" y="169164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DFF7F4"/>
          </a:solidFill>
          <a:ln w="12700">
            <a:solidFill>
              <a:srgbClr val="0EA5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9208" y="1837944"/>
            <a:ext cx="14264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Rollout Engine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97496" y="2167128"/>
            <a:ext cx="138988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vLLM / SGLang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35440" y="1691640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1837944"/>
            <a:ext cx="1700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63456" y="2167128"/>
            <a:ext cx="16642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FSDP / DeepSpeed / Megatron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3337560"/>
            <a:ext cx="49377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584448"/>
            <a:ext cx="2926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veRL represents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88720" y="4005072"/>
            <a:ext cx="38404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RL dataflow from backend execution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multiple rollout and training backends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worker placement and weight sync explicit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400800" y="3337560"/>
            <a:ext cx="49377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584448"/>
            <a:ext cx="2926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OpenRLHF represents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66560" y="4005072"/>
            <a:ext cx="38404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 orchestration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DeepSpeed training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vLLM rollout and model colocation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21208" y="6291072"/>
            <a:ext cx="11109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A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veRL and OpenRLHF official repositories describe distributed LLM RL architectures, rollout backends, and training backends.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Rollout Engines and Training Backends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LLM RL, generation and training often use different optimized systems.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5120640" cy="429768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Rollout engines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38862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vLLM and SGLang optimize generation throughput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manage batching and KV cache efficiency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may run separately from the trainer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55080" y="1463040"/>
            <a:ext cx="5120640" cy="429768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backends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66560" y="2377440"/>
            <a:ext cx="38862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FSDP shards model states in PyTorch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DeepSpeed ZeRO reduces memory pressure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Megatron supports tensor / pipeline / expert parallelism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103120" y="5989320"/>
            <a:ext cx="7955280" cy="310896"/>
          </a:xfrm>
          <a:prstGeom prst="roundRect">
            <a:avLst>
              <a:gd name="adj" fmla="val 14706"/>
            </a:avLst>
          </a:prstGeom>
          <a:solidFill>
            <a:srgbClr val="FFF4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6071616"/>
            <a:ext cx="74066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part: after training updates the policy, rollout workers need fresh weights without wasting time.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and Asynchronous RL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Tool-using agents make trajectories long, uneven, and hard to schedule synchronously.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16636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Synchronous batch RL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35661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full batch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for the longest trajectory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once all samples arrive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rollout workers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166360" cy="416052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Asynchronous RL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66560" y="2331720"/>
            <a:ext cx="35661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Rollout workers generate continuously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stream or queue stores trajectories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Trainer updates while new data arrives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handle policy staleness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828800" y="5650992"/>
            <a:ext cx="8503920" cy="502920"/>
          </a:xfrm>
          <a:prstGeom prst="roundRect">
            <a:avLst>
              <a:gd name="adj" fmla="val 9091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5797296"/>
            <a:ext cx="8046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idea: AReaL improves utilization by decoupling generation and training, but the trade-off is stale-policy data.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21208" y="6291072"/>
            <a:ext cx="11109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A87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AReaL describes fully asynchronous RL with streaming generation/training for reasoning and agentic applications.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Should Students Choose a Stack?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the project goal, not from a popularity ranking.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515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371600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want to learn RL internals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760720" y="1371600"/>
            <a:ext cx="5120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Gymnasium + CleanRL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1856232"/>
            <a:ext cx="10515600" cy="530352"/>
          </a:xfrm>
          <a:prstGeom prst="roundRect">
            <a:avLst>
              <a:gd name="adj" fmla="val 8621"/>
            </a:avLst>
          </a:prstGeom>
          <a:solidFill>
            <a:srgbClr val="F0F5FA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993392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need a trusted baseline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760720" y="1993392"/>
            <a:ext cx="5120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Stable-Baselines3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2478024"/>
            <a:ext cx="10515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615184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need modular RL research code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760720" y="2615184"/>
            <a:ext cx="5120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Tianshou / TorchRL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099816"/>
            <a:ext cx="10515600" cy="530352"/>
          </a:xfrm>
          <a:prstGeom prst="roundRect">
            <a:avLst>
              <a:gd name="adj" fmla="val 8621"/>
            </a:avLst>
          </a:prstGeom>
          <a:solidFill>
            <a:srgbClr val="F0F5FA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236976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need distributed classical RL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760720" y="3236976"/>
            <a:ext cx="5120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RLlib / Sample Factory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721608"/>
            <a:ext cx="10515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858768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want small LLM post-training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760720" y="3858768"/>
            <a:ext cx="5120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A5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TRL / LLaMA-Factory / ms-swift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4343400"/>
            <a:ext cx="10515600" cy="530352"/>
          </a:xfrm>
          <a:prstGeom prst="roundRect">
            <a:avLst>
              <a:gd name="adj" fmla="val 8621"/>
            </a:avLst>
          </a:prstGeom>
          <a:solidFill>
            <a:srgbClr val="F0F5FA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480560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need distributed LLM RL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760720" y="4480560"/>
            <a:ext cx="5120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A5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veRL / OpenRLHF / NeMo RL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" y="4965192"/>
            <a:ext cx="10515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5102352"/>
            <a:ext cx="4206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need tool-using agents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760720" y="5102352"/>
            <a:ext cx="5120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A5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AReaL / SkyRL / rLLM / Agent Lightning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1874520" y="5760720"/>
            <a:ext cx="8458200" cy="475488"/>
          </a:xfrm>
          <a:prstGeom prst="roundRect">
            <a:avLst>
              <a:gd name="adj" fmla="val 961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5907024"/>
            <a:ext cx="8001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of thumb: choose the smallest stack that exposes the bottleneck you actually need to study.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RL engineering report explains bottlenecks, not just tool names.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246120" cy="3291840"/>
          </a:xfrm>
          <a:prstGeom prst="roundRect">
            <a:avLst>
              <a:gd name="adj" fmla="val 1408"/>
            </a:avLst>
          </a:prstGeom>
          <a:solidFill>
            <a:srgbClr val="E8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36192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live at different layers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26517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Gymnasium, vLLM, and PPO libraries are not direct competitors.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46120" cy="3291840"/>
          </a:xfrm>
          <a:prstGeom prst="roundRect">
            <a:avLst>
              <a:gd name="adj" fmla="val 1408"/>
            </a:avLst>
          </a:prstGeom>
          <a:solidFill>
            <a:srgbClr val="DFF7F4"/>
          </a:solidFill>
          <a:ln w="12700">
            <a:solidFill>
              <a:srgbClr val="0EA5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230368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moves the bottleneck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00600" y="2880360"/>
            <a:ext cx="26060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 → reuse → sampling → rollout → synchronization → agents.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246120" cy="3291840"/>
          </a:xfrm>
          <a:prstGeom prst="roundRect">
            <a:avLst>
              <a:gd name="adj" fmla="val 1408"/>
            </a:avLst>
          </a:prstGeom>
          <a:solidFill>
            <a:srgbClr val="FFF4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942832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matters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03920" y="2880360"/>
            <a:ext cx="26060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hands-on results from documentation-based architecture review.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417320" y="5257800"/>
            <a:ext cx="9372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5440680"/>
            <a:ext cx="8823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 for students: run one small classical RL example and one small LLM post-training configuration before comparing large systems.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Crescent-Intellegence-Lab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 Engineering Tools: From Classical RL to LLM Agents</dc:title>
  <dc:subject>Student-facing overview of reinforcement learning engineering tools</dc:subject>
  <dc:creator>Shuo Yan</dc:creator>
  <cp:lastModifiedBy>Shuo Yan</cp:lastModifiedBy>
  <cp:revision>1</cp:revision>
  <dcterms:created xsi:type="dcterms:W3CDTF">2026-07-01T06:27:32Z</dcterms:created>
  <dcterms:modified xsi:type="dcterms:W3CDTF">2026-07-01T06:27:32Z</dcterms:modified>
</cp:coreProperties>
</file>